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Arial"/>
              </a:rPr>
              <a:t>Feature importance (%, global)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avg_monthly_sales</c:v>
                  </c:pt>
                  <c:pt idx="1">
                    <c:v>days_since_visit</c:v>
                  </c:pt>
                  <c:pt idx="2">
                    <c:v>recent_humidity</c:v>
                  </c:pt>
                  <c:pt idx="3">
                    <c:v>recent_rain_7d</c:v>
                  </c:pt>
                  <c:pt idx="4">
                    <c:v>credit_score</c:v>
                  </c:pt>
                  <c:pt idx="5">
                    <c:v>tier</c:v>
                  </c:pt>
                  <c:pt idx="6">
                    <c:v>crop_cotton</c:v>
                  </c:pt>
                  <c:pt idx="7">
                    <c:v>pest_pressure</c:v>
                  </c:pt>
                  <c:pt idx="8">
                    <c:v>crop_chilli</c:v>
                  </c:pt>
                  <c:pt idx="9">
                    <c:v>crop_maize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</c:v>
                </c:pt>
                <c:pt idx="1">
                  <c:v>20</c:v>
                </c:pt>
                <c:pt idx="2">
                  <c:v>18</c:v>
                </c:pt>
                <c:pt idx="3">
                  <c:v>15</c:v>
                </c:pt>
                <c:pt idx="4">
                  <c:v>9</c:v>
                </c:pt>
                <c:pt idx="5">
                  <c:v>4</c:v>
                </c:pt>
                <c:pt idx="6">
                  <c:v>2.5</c:v>
                </c:pt>
                <c:pt idx="7">
                  <c:v>2.3</c:v>
                </c:pt>
                <c:pt idx="8">
                  <c:v>1.9</c:v>
                </c:pt>
                <c:pt idx="9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16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CHILLI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138160" y="2468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MAIZE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13816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COTTON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961120" y="4846320"/>
            <a:ext cx="2286000" cy="365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5120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· Andhra Pradesh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Field Copilot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Agricultural Intelligence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AI-driven decision support for field sales &amp; agronomy teams.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Syngenta Hackathon · Team of 3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reps fly blind on the most important decision of their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109728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60-120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per rep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54480"/>
            <a:ext cx="109728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each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109728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~28%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stale &gt; 30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coupled pain points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planning: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objective ranking - reps over-visit some retailers and ignore others.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awareness: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weather, pest, and NDVI signals reach the rep days too late.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context: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single view of sales history, account health, and regional risk.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signals → ranked daily plan → explainable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NDVI, pest reports, CRM, sales — fused into a daily snapshot per retailer.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Gradient-boosting model predicts P(order in next 7 days). Calibrated to a 0-100 priority.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7830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26517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ranked plan with reason chips. One-tap Call / Navigate / Log.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023360" y="3200400"/>
            <a:ext cx="274320" cy="274320"/>
          </a:xfrm>
          <a:prstGeom prst="rtTriangl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7863840" y="3200400"/>
            <a:ext cx="274320" cy="274320"/>
          </a:xfrm>
          <a:prstGeom prst="rtTriangl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rep opens the app at 6 AM and knows exactly whom to visit, why, and what to recommend.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with Copilot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Ravi, Territory Sales Officer, 88 retailers across 3 districts.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 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508760"/>
            <a:ext cx="9692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 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ranked plan with reason chips: pest pressure in Raichur, two Tier-A accounts overdue 30+ days.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651760"/>
            <a:ext cx="9692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Taps Navigate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770632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retailer auto-loads in maps. Copilot logs the visit intent.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3794760"/>
            <a:ext cx="9692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visit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913632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call complete. Model re-scores the remaining plan.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92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5:45 PM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937760"/>
            <a:ext cx="9692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alert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5056632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pest event in Bellary — tomorrow's plan auto-bumps two retailers.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Today's Plan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retailers with reason chips and one-tap actions.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114800" cy="4937760"/>
          </a:xfrm>
          <a:prstGeom prst="roundRect">
            <a:avLst>
              <a:gd name="adj" fmla="val 5556"/>
            </a:avLst>
          </a:prstGeom>
          <a:solidFill>
            <a:srgbClr val="1B2B1B"/>
          </a:solidFill>
          <a:ln w="12700">
            <a:solidFill>
              <a:srgbClr val="1B2B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3840480" cy="46634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morning, REP04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22 May · 10 priority visits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51760"/>
            <a:ext cx="9144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97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Dharwad Agri 30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7432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· Tier A · INR 2.8L/mo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[ 45d overdue ]  [ high pest ]  [ Tier A 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88620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86200"/>
            <a:ext cx="9144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Belgaum Agri 41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39776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977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 · Tier A · INR 2.4L/mo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[ 32mm rain · 7d ]  [ pest activity 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51206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120640"/>
            <a:ext cx="9144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166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Nellore Agri 90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5212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5212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486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· Tier A · INR 2.1L/mo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5760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[ 38d overdue ]  [ INR 210k/mo 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1645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judges should care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219456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chips: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recommendation is explainable in 5 words.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re-ranking: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plan re-sorts as new pest / weather events arrive.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actions: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Call, Navigate, Log — no typing while driving.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design: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 plan precomputed and cached at 5 AM.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Layered. Each box is independently replaceable.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13232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1554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NDVI · Pest · CRM · Sales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10800000">
            <a:off x="4114800" y="2194560"/>
            <a:ext cx="182880" cy="164592"/>
          </a:xfrm>
          <a:prstGeom prst="rtTriangl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67712"/>
            <a:ext cx="713232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2677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267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+ webhooks · 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10800000">
            <a:off x="4114800" y="2907792"/>
            <a:ext cx="182880" cy="164592"/>
          </a:xfrm>
          <a:prstGeom prst="rtTriangl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80944"/>
            <a:ext cx="713232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9809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Store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29809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snapshots per retailer (60-day rolling)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4114800" y="3621024"/>
            <a:ext cx="182880" cy="164592"/>
          </a:xfrm>
          <a:prstGeom prst="rtTriangl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94176"/>
            <a:ext cx="713232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6941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36941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10 features · SHAP-style reasons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4114800" y="4334256"/>
            <a:ext cx="182880" cy="164592"/>
          </a:xfrm>
          <a:prstGeom prst="rtTriangl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07408"/>
            <a:ext cx="713232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4074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08960" y="4407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/plan, /retailer/{id}, /heatmap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10800000">
            <a:off x="4114800" y="5047488"/>
            <a:ext cx="182880" cy="164592"/>
          </a:xfrm>
          <a:prstGeom prst="rtTriangl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20640"/>
            <a:ext cx="713232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0896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(demo) · React Native (prod) · offline-first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choices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0" y="21031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features → gradient boosting (not deep learning).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prevent feature-leakage from future signals.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decoupled from model — swap models freely.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because rural connectivity is unreliable.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&amp; explainability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0.815 on 5,760 rows — explainable to a rep in 5 words.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62179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shown as % of total gain.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P(order in next 7 days). Probability → 0-100 priority score.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(holdout, 80/20 stratified)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4944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494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(positive)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9264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4944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latency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9264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 / 96 retailers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4944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Reason-chip taxonomy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4944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overdue ] · [ pest activity ] · [ recent rain ] · [ Tier-A ] · [ high-value 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for the demo — schema-compatible with real production feeds.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508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consume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057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· OpenWeather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057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temp, humidity (daily, per district)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/ vegetation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Sentinel 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6517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NDVI per district (canopy health)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surveillance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246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ICAR-NCIPM · state agri depts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246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bollworm, fall armyworm, chilli thrips events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4712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840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Syngenta CRM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Master, tier, credit, last-visit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34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sell-out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434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+ retailer feeds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4348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product-level units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synthetic generators that mirror these schemas — production swap is a config change, not a rewrite.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we'd measure in a 4-week pilot.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13716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Visit-to-order conversion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938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938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+25-35% lift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97480"/>
            <a:ext cx="137160" cy="960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43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Pest-alert response time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days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3081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24 hours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40480"/>
            <a:ext cx="13716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accounts (&gt; 30 days)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224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~28%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224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15%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983480"/>
            <a:ext cx="137160" cy="960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029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per rep per quarter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5093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367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0" y="5093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5367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+12-18%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pan-India rollout.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73152"/>
          </a:xfrm>
          <a:prstGeom prst="rect">
            <a:avLst/>
          </a:prstGeom>
          <a:solidFill>
            <a:srgbClr val="E8EFE0"/>
          </a:solidFill>
          <a:ln w="12700">
            <a:solidFill>
              <a:srgbClr val="E8EF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52044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54480"/>
            <a:ext cx="256032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synthetic data, visit prioritization, single region.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52044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55448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554480"/>
            <a:ext cx="2560320" cy="45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demand-spike model, pilot with one Syngenta zone.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5448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54480"/>
            <a:ext cx="256032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(Kannada/Telugu/Hindi), offline-first mobile, retail forecasting.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352044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55448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15400" y="1554480"/>
            <a:ext cx="2560320" cy="45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068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84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rollout, distributor sell-out integration, weather subscription.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independently shippable. Pilot in Phase 2 unlocks revenue and validates the model on real data before we scale.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what we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people. One week. A working prototype + the full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UX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journeys, screen flow, reason-chip taxonomy, copy.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54480"/>
            <a:ext cx="35661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/ ML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design, feature engineering, model training &amp; evaluation.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35661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scoring API, deployment, integrations.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shipped in this build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synthetic retailers across 16 districts, 5,760-row training table.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Gradient-boosting model with 10 features and 0.815 holdout ROC-AUC.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Today's Plan, Risk Heatmap, Retailer 360, Insights.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doc, demo script, UI mockup — judges have everything they need.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Syngenta Hackathon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walk you through the live demo.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Copilot · Karnataka · Andhra Pradesh · Chilli · Maize · Cotton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Field Copilot</dc:title>
  <dc:subject>PptxGenJS Presentation</dc:subject>
  <dc:creator>AI Field Copilot Team</dc:creator>
  <cp:lastModifiedBy>AI Field Copilot Team</cp:lastModifiedBy>
  <cp:revision>1</cp:revision>
  <dcterms:created xsi:type="dcterms:W3CDTF">2026-05-23T02:31:09Z</dcterms:created>
  <dcterms:modified xsi:type="dcterms:W3CDTF">2026-05-23T02:31:09Z</dcterms:modified>
</cp:coreProperties>
</file>